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66" r:id="rId4"/>
    <p:sldId id="267" r:id="rId5"/>
    <p:sldId id="268" r:id="rId6"/>
    <p:sldId id="271" r:id="rId7"/>
    <p:sldId id="272" r:id="rId8"/>
    <p:sldId id="273" r:id="rId9"/>
    <p:sldId id="274" r:id="rId10"/>
    <p:sldId id="275" r:id="rId11"/>
    <p:sldId id="276" r:id="rId12"/>
    <p:sldId id="258" r:id="rId13"/>
    <p:sldId id="269" r:id="rId14"/>
    <p:sldId id="260" r:id="rId15"/>
    <p:sldId id="261" r:id="rId16"/>
    <p:sldId id="264" r:id="rId17"/>
    <p:sldId id="270" r:id="rId18"/>
    <p:sldId id="277" r:id="rId19"/>
    <p:sldId id="280" r:id="rId20"/>
    <p:sldId id="282" r:id="rId21"/>
    <p:sldId id="279" r:id="rId22"/>
    <p:sldId id="281" r:id="rId23"/>
    <p:sldId id="265" r:id="rId24"/>
    <p:sldId id="278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0E8CFA-5261-4B0C-A731-CD3F6C8F6B1D}" v="38" dt="2025-06-14T11:08:06.0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147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DEF082-849D-49FC-9B01-B80C18BDBC02}" type="doc">
      <dgm:prSet loTypeId="urn:microsoft.com/office/officeart/2005/8/layout/b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DD134EB-DF9C-4718-9E95-83BEA058ECCC}">
      <dgm:prSet phldrT="[Text]" phldr="0"/>
      <dgm:spPr/>
      <dgm:t>
        <a:bodyPr/>
        <a:lstStyle/>
        <a:p>
          <a:r>
            <a:rPr lang="en-US" dirty="0">
              <a:latin typeface="Calibri"/>
            </a:rPr>
            <a:t>AD8232</a:t>
          </a:r>
        </a:p>
        <a:p>
          <a:r>
            <a:rPr lang="en-US" dirty="0">
              <a:latin typeface="Calibri"/>
            </a:rPr>
            <a:t>ECG MODULE</a:t>
          </a:r>
          <a:endParaRPr lang="en-US" dirty="0"/>
        </a:p>
      </dgm:t>
    </dgm:pt>
    <dgm:pt modelId="{8EC85038-B430-4FB7-B8DA-758CBB334645}" type="parTrans" cxnId="{0A665D6A-0C4F-442C-92D9-A9949F11639E}">
      <dgm:prSet/>
      <dgm:spPr/>
      <dgm:t>
        <a:bodyPr/>
        <a:lstStyle/>
        <a:p>
          <a:endParaRPr lang="en-US"/>
        </a:p>
      </dgm:t>
    </dgm:pt>
    <dgm:pt modelId="{BFC574F6-9855-43F5-B24E-FEC68EEB77DA}" type="sibTrans" cxnId="{0A665D6A-0C4F-442C-92D9-A9949F11639E}">
      <dgm:prSet/>
      <dgm:spPr/>
      <dgm:t>
        <a:bodyPr/>
        <a:lstStyle/>
        <a:p>
          <a:endParaRPr lang="en-US"/>
        </a:p>
      </dgm:t>
    </dgm:pt>
    <dgm:pt modelId="{DE83CC6F-0528-4892-94C7-A15166CA2582}">
      <dgm:prSet phldrT="[Text]" phldr="0"/>
      <dgm:spPr/>
      <dgm:t>
        <a:bodyPr/>
        <a:lstStyle/>
        <a:p>
          <a:pPr rtl="0"/>
          <a:r>
            <a:rPr lang="en-US">
              <a:latin typeface="Calibri"/>
            </a:rPr>
            <a:t>NOTCH FILTER </a:t>
          </a:r>
          <a:endParaRPr lang="en-US"/>
        </a:p>
      </dgm:t>
    </dgm:pt>
    <dgm:pt modelId="{6A487D44-2656-4C23-9AED-604B1C6FAE38}" type="parTrans" cxnId="{AA8A238D-C8B2-4B0A-A083-319F14E60CB7}">
      <dgm:prSet/>
      <dgm:spPr/>
      <dgm:t>
        <a:bodyPr/>
        <a:lstStyle/>
        <a:p>
          <a:endParaRPr lang="en-US"/>
        </a:p>
      </dgm:t>
    </dgm:pt>
    <dgm:pt modelId="{C9458B01-07AC-440C-9EB0-8CB2583A2378}" type="sibTrans" cxnId="{AA8A238D-C8B2-4B0A-A083-319F14E60CB7}">
      <dgm:prSet/>
      <dgm:spPr/>
      <dgm:t>
        <a:bodyPr/>
        <a:lstStyle/>
        <a:p>
          <a:endParaRPr lang="en-US"/>
        </a:p>
      </dgm:t>
    </dgm:pt>
    <dgm:pt modelId="{CF2B6702-16AD-40C6-A2D4-885DCDEA82EF}">
      <dgm:prSet phldrT="[Text]" phldr="0"/>
      <dgm:spPr/>
      <dgm:t>
        <a:bodyPr/>
        <a:lstStyle/>
        <a:p>
          <a:pPr rtl="0"/>
          <a:r>
            <a:rPr lang="en-US" dirty="0">
              <a:latin typeface="Calibri"/>
            </a:rPr>
            <a:t>LOW PASS FILTER </a:t>
          </a:r>
          <a:endParaRPr lang="en-US" dirty="0"/>
        </a:p>
      </dgm:t>
    </dgm:pt>
    <dgm:pt modelId="{C15DBBEE-E2BB-45D5-B8CC-4AE14AF40708}" type="parTrans" cxnId="{376844B4-A4CB-48DB-86D6-6112554B11CB}">
      <dgm:prSet/>
      <dgm:spPr/>
      <dgm:t>
        <a:bodyPr/>
        <a:lstStyle/>
        <a:p>
          <a:endParaRPr lang="en-US"/>
        </a:p>
      </dgm:t>
    </dgm:pt>
    <dgm:pt modelId="{8136B6D0-3C32-4964-B786-FFE3A395F6E8}" type="sibTrans" cxnId="{376844B4-A4CB-48DB-86D6-6112554B11CB}">
      <dgm:prSet/>
      <dgm:spPr/>
      <dgm:t>
        <a:bodyPr/>
        <a:lstStyle/>
        <a:p>
          <a:endParaRPr lang="en-US"/>
        </a:p>
      </dgm:t>
    </dgm:pt>
    <dgm:pt modelId="{4AF4C2AD-8B68-433E-951A-ACBF33DC70AD}">
      <dgm:prSet phldrT="[Text]" phldr="0"/>
      <dgm:spPr/>
      <dgm:t>
        <a:bodyPr/>
        <a:lstStyle/>
        <a:p>
          <a:pPr rtl="0"/>
          <a:r>
            <a:rPr lang="en-US">
              <a:latin typeface="Calibri"/>
            </a:rPr>
            <a:t>ARDUINO NANO</a:t>
          </a:r>
          <a:endParaRPr lang="en-US"/>
        </a:p>
      </dgm:t>
    </dgm:pt>
    <dgm:pt modelId="{3C6487D9-7724-44E9-A158-0102188EBD60}" type="parTrans" cxnId="{0820D525-C4D4-4547-AEFC-A7DC973C26ED}">
      <dgm:prSet/>
      <dgm:spPr/>
      <dgm:t>
        <a:bodyPr/>
        <a:lstStyle/>
        <a:p>
          <a:endParaRPr lang="en-US"/>
        </a:p>
      </dgm:t>
    </dgm:pt>
    <dgm:pt modelId="{41973916-5CE2-4379-B011-7C2A6059B1B9}" type="sibTrans" cxnId="{0820D525-C4D4-4547-AEFC-A7DC973C26ED}">
      <dgm:prSet/>
      <dgm:spPr/>
      <dgm:t>
        <a:bodyPr/>
        <a:lstStyle/>
        <a:p>
          <a:endParaRPr lang="en-US"/>
        </a:p>
      </dgm:t>
    </dgm:pt>
    <dgm:pt modelId="{37BB5D4A-9FD9-4A5B-9E66-61A3844F8B11}">
      <dgm:prSet phldrT="[Text]" phldr="0"/>
      <dgm:spPr/>
      <dgm:t>
        <a:bodyPr/>
        <a:lstStyle/>
        <a:p>
          <a:r>
            <a:rPr lang="en-US">
              <a:latin typeface="Calibri"/>
            </a:rPr>
            <a:t>DISPLAY</a:t>
          </a:r>
          <a:endParaRPr lang="en-US"/>
        </a:p>
      </dgm:t>
    </dgm:pt>
    <dgm:pt modelId="{F7E380C8-6908-4313-A71E-33A576C76232}" type="parTrans" cxnId="{FA7C5AE7-F47B-40CC-B392-3958E9085A8F}">
      <dgm:prSet/>
      <dgm:spPr/>
      <dgm:t>
        <a:bodyPr/>
        <a:lstStyle/>
        <a:p>
          <a:endParaRPr lang="en-US"/>
        </a:p>
      </dgm:t>
    </dgm:pt>
    <dgm:pt modelId="{2526596F-9C1F-4AD4-AA90-9C5CCADED089}" type="sibTrans" cxnId="{FA7C5AE7-F47B-40CC-B392-3958E9085A8F}">
      <dgm:prSet/>
      <dgm:spPr/>
      <dgm:t>
        <a:bodyPr/>
        <a:lstStyle/>
        <a:p>
          <a:endParaRPr lang="en-US"/>
        </a:p>
      </dgm:t>
    </dgm:pt>
    <dgm:pt modelId="{95427EC6-38FA-44FE-87EA-8D1FF9123C75}" type="pres">
      <dgm:prSet presAssocID="{93DEF082-849D-49FC-9B01-B80C18BDBC02}" presName="Name0" presStyleCnt="0">
        <dgm:presLayoutVars>
          <dgm:dir/>
          <dgm:resizeHandles val="exact"/>
        </dgm:presLayoutVars>
      </dgm:prSet>
      <dgm:spPr/>
    </dgm:pt>
    <dgm:pt modelId="{E957978E-9E06-420C-B186-AB75B6505626}" type="pres">
      <dgm:prSet presAssocID="{4DD134EB-DF9C-4718-9E95-83BEA058ECCC}" presName="node" presStyleLbl="node1" presStyleIdx="0" presStyleCnt="5">
        <dgm:presLayoutVars>
          <dgm:bulletEnabled val="1"/>
        </dgm:presLayoutVars>
      </dgm:prSet>
      <dgm:spPr/>
    </dgm:pt>
    <dgm:pt modelId="{B7EC77AC-BF5B-4FDC-AF14-3CA31D6E10F5}" type="pres">
      <dgm:prSet presAssocID="{BFC574F6-9855-43F5-B24E-FEC68EEB77DA}" presName="sibTrans" presStyleLbl="sibTrans1D1" presStyleIdx="0" presStyleCnt="4"/>
      <dgm:spPr/>
    </dgm:pt>
    <dgm:pt modelId="{D5EA7B08-0D6E-4A81-A178-AFB22B3F0980}" type="pres">
      <dgm:prSet presAssocID="{BFC574F6-9855-43F5-B24E-FEC68EEB77DA}" presName="connectorText" presStyleLbl="sibTrans1D1" presStyleIdx="0" presStyleCnt="4"/>
      <dgm:spPr/>
    </dgm:pt>
    <dgm:pt modelId="{C9E79F99-8CC4-4970-B3BE-AA9CED97CCF1}" type="pres">
      <dgm:prSet presAssocID="{DE83CC6F-0528-4892-94C7-A15166CA2582}" presName="node" presStyleLbl="node1" presStyleIdx="1" presStyleCnt="5">
        <dgm:presLayoutVars>
          <dgm:bulletEnabled val="1"/>
        </dgm:presLayoutVars>
      </dgm:prSet>
      <dgm:spPr/>
    </dgm:pt>
    <dgm:pt modelId="{129FD263-F4FC-4EF0-A10D-06572B11992E}" type="pres">
      <dgm:prSet presAssocID="{C9458B01-07AC-440C-9EB0-8CB2583A2378}" presName="sibTrans" presStyleLbl="sibTrans1D1" presStyleIdx="1" presStyleCnt="4"/>
      <dgm:spPr/>
    </dgm:pt>
    <dgm:pt modelId="{C3DFC481-D93F-4DB4-8822-00672EDFD779}" type="pres">
      <dgm:prSet presAssocID="{C9458B01-07AC-440C-9EB0-8CB2583A2378}" presName="connectorText" presStyleLbl="sibTrans1D1" presStyleIdx="1" presStyleCnt="4"/>
      <dgm:spPr/>
    </dgm:pt>
    <dgm:pt modelId="{83D79B2C-D84E-4BE1-A0B2-B55BA4E0519F}" type="pres">
      <dgm:prSet presAssocID="{CF2B6702-16AD-40C6-A2D4-885DCDEA82EF}" presName="node" presStyleLbl="node1" presStyleIdx="2" presStyleCnt="5">
        <dgm:presLayoutVars>
          <dgm:bulletEnabled val="1"/>
        </dgm:presLayoutVars>
      </dgm:prSet>
      <dgm:spPr/>
    </dgm:pt>
    <dgm:pt modelId="{88031E3D-29C3-4132-93AA-23F5007BEE91}" type="pres">
      <dgm:prSet presAssocID="{8136B6D0-3C32-4964-B786-FFE3A395F6E8}" presName="sibTrans" presStyleLbl="sibTrans1D1" presStyleIdx="2" presStyleCnt="4"/>
      <dgm:spPr/>
    </dgm:pt>
    <dgm:pt modelId="{CE544BC6-85D0-4306-BC63-FA410FCA5B3E}" type="pres">
      <dgm:prSet presAssocID="{8136B6D0-3C32-4964-B786-FFE3A395F6E8}" presName="connectorText" presStyleLbl="sibTrans1D1" presStyleIdx="2" presStyleCnt="4"/>
      <dgm:spPr/>
    </dgm:pt>
    <dgm:pt modelId="{B8998962-590A-4FE3-81B7-D3826A578B62}" type="pres">
      <dgm:prSet presAssocID="{4AF4C2AD-8B68-433E-951A-ACBF33DC70AD}" presName="node" presStyleLbl="node1" presStyleIdx="3" presStyleCnt="5">
        <dgm:presLayoutVars>
          <dgm:bulletEnabled val="1"/>
        </dgm:presLayoutVars>
      </dgm:prSet>
      <dgm:spPr/>
    </dgm:pt>
    <dgm:pt modelId="{EFC83089-B477-43F4-BF1C-785B2E00AEAA}" type="pres">
      <dgm:prSet presAssocID="{41973916-5CE2-4379-B011-7C2A6059B1B9}" presName="sibTrans" presStyleLbl="sibTrans1D1" presStyleIdx="3" presStyleCnt="4"/>
      <dgm:spPr/>
    </dgm:pt>
    <dgm:pt modelId="{78F3FB19-E44B-4753-A1E5-2627DF720866}" type="pres">
      <dgm:prSet presAssocID="{41973916-5CE2-4379-B011-7C2A6059B1B9}" presName="connectorText" presStyleLbl="sibTrans1D1" presStyleIdx="3" presStyleCnt="4"/>
      <dgm:spPr/>
    </dgm:pt>
    <dgm:pt modelId="{DE8BEAE5-B9F3-47EA-930A-CC120D934A36}" type="pres">
      <dgm:prSet presAssocID="{37BB5D4A-9FD9-4A5B-9E66-61A3844F8B11}" presName="node" presStyleLbl="node1" presStyleIdx="4" presStyleCnt="5">
        <dgm:presLayoutVars>
          <dgm:bulletEnabled val="1"/>
        </dgm:presLayoutVars>
      </dgm:prSet>
      <dgm:spPr/>
    </dgm:pt>
  </dgm:ptLst>
  <dgm:cxnLst>
    <dgm:cxn modelId="{0820D525-C4D4-4547-AEFC-A7DC973C26ED}" srcId="{93DEF082-849D-49FC-9B01-B80C18BDBC02}" destId="{4AF4C2AD-8B68-433E-951A-ACBF33DC70AD}" srcOrd="3" destOrd="0" parTransId="{3C6487D9-7724-44E9-A158-0102188EBD60}" sibTransId="{41973916-5CE2-4379-B011-7C2A6059B1B9}"/>
    <dgm:cxn modelId="{3B402B28-DFEF-49C5-8485-C42B3CB51DA2}" type="presOf" srcId="{4AF4C2AD-8B68-433E-951A-ACBF33DC70AD}" destId="{B8998962-590A-4FE3-81B7-D3826A578B62}" srcOrd="0" destOrd="0" presId="urn:microsoft.com/office/officeart/2005/8/layout/bProcess3"/>
    <dgm:cxn modelId="{340CF929-9F48-4774-B7D3-DA1240E0E05F}" type="presOf" srcId="{41973916-5CE2-4379-B011-7C2A6059B1B9}" destId="{78F3FB19-E44B-4753-A1E5-2627DF720866}" srcOrd="1" destOrd="0" presId="urn:microsoft.com/office/officeart/2005/8/layout/bProcess3"/>
    <dgm:cxn modelId="{9F5A495C-7C88-4FB9-BF93-5C45375206D0}" type="presOf" srcId="{BFC574F6-9855-43F5-B24E-FEC68EEB77DA}" destId="{D5EA7B08-0D6E-4A81-A178-AFB22B3F0980}" srcOrd="1" destOrd="0" presId="urn:microsoft.com/office/officeart/2005/8/layout/bProcess3"/>
    <dgm:cxn modelId="{764F1041-77B5-419E-82A3-FF7CBFCEA77F}" type="presOf" srcId="{8136B6D0-3C32-4964-B786-FFE3A395F6E8}" destId="{88031E3D-29C3-4132-93AA-23F5007BEE91}" srcOrd="0" destOrd="0" presId="urn:microsoft.com/office/officeart/2005/8/layout/bProcess3"/>
    <dgm:cxn modelId="{93EFFE66-3DB6-4E43-B9DC-A109A5BD34F1}" type="presOf" srcId="{37BB5D4A-9FD9-4A5B-9E66-61A3844F8B11}" destId="{DE8BEAE5-B9F3-47EA-930A-CC120D934A36}" srcOrd="0" destOrd="0" presId="urn:microsoft.com/office/officeart/2005/8/layout/bProcess3"/>
    <dgm:cxn modelId="{0A665D6A-0C4F-442C-92D9-A9949F11639E}" srcId="{93DEF082-849D-49FC-9B01-B80C18BDBC02}" destId="{4DD134EB-DF9C-4718-9E95-83BEA058ECCC}" srcOrd="0" destOrd="0" parTransId="{8EC85038-B430-4FB7-B8DA-758CBB334645}" sibTransId="{BFC574F6-9855-43F5-B24E-FEC68EEB77DA}"/>
    <dgm:cxn modelId="{77480E6D-8076-4727-A3C7-4A316E70B930}" type="presOf" srcId="{DE83CC6F-0528-4892-94C7-A15166CA2582}" destId="{C9E79F99-8CC4-4970-B3BE-AA9CED97CCF1}" srcOrd="0" destOrd="0" presId="urn:microsoft.com/office/officeart/2005/8/layout/bProcess3"/>
    <dgm:cxn modelId="{B7DE4B4F-D7CD-42A2-885F-C86885449CCB}" type="presOf" srcId="{C9458B01-07AC-440C-9EB0-8CB2583A2378}" destId="{129FD263-F4FC-4EF0-A10D-06572B11992E}" srcOrd="0" destOrd="0" presId="urn:microsoft.com/office/officeart/2005/8/layout/bProcess3"/>
    <dgm:cxn modelId="{A22EC376-AEC1-4CEE-B462-C3CC11E12ED4}" type="presOf" srcId="{CF2B6702-16AD-40C6-A2D4-885DCDEA82EF}" destId="{83D79B2C-D84E-4BE1-A0B2-B55BA4E0519F}" srcOrd="0" destOrd="0" presId="urn:microsoft.com/office/officeart/2005/8/layout/bProcess3"/>
    <dgm:cxn modelId="{AA8A238D-C8B2-4B0A-A083-319F14E60CB7}" srcId="{93DEF082-849D-49FC-9B01-B80C18BDBC02}" destId="{DE83CC6F-0528-4892-94C7-A15166CA2582}" srcOrd="1" destOrd="0" parTransId="{6A487D44-2656-4C23-9AED-604B1C6FAE38}" sibTransId="{C9458B01-07AC-440C-9EB0-8CB2583A2378}"/>
    <dgm:cxn modelId="{AB611796-7469-4584-A303-48D2D96E07B1}" type="presOf" srcId="{4DD134EB-DF9C-4718-9E95-83BEA058ECCC}" destId="{E957978E-9E06-420C-B186-AB75B6505626}" srcOrd="0" destOrd="0" presId="urn:microsoft.com/office/officeart/2005/8/layout/bProcess3"/>
    <dgm:cxn modelId="{376844B4-A4CB-48DB-86D6-6112554B11CB}" srcId="{93DEF082-849D-49FC-9B01-B80C18BDBC02}" destId="{CF2B6702-16AD-40C6-A2D4-885DCDEA82EF}" srcOrd="2" destOrd="0" parTransId="{C15DBBEE-E2BB-45D5-B8CC-4AE14AF40708}" sibTransId="{8136B6D0-3C32-4964-B786-FFE3A395F6E8}"/>
    <dgm:cxn modelId="{3B7667B9-A1B2-4D7D-9F32-7AA2B4AB04EC}" type="presOf" srcId="{BFC574F6-9855-43F5-B24E-FEC68EEB77DA}" destId="{B7EC77AC-BF5B-4FDC-AF14-3CA31D6E10F5}" srcOrd="0" destOrd="0" presId="urn:microsoft.com/office/officeart/2005/8/layout/bProcess3"/>
    <dgm:cxn modelId="{E238CCC9-CA61-48BD-A0E4-E888DE04DBB0}" type="presOf" srcId="{C9458B01-07AC-440C-9EB0-8CB2583A2378}" destId="{C3DFC481-D93F-4DB4-8822-00672EDFD779}" srcOrd="1" destOrd="0" presId="urn:microsoft.com/office/officeart/2005/8/layout/bProcess3"/>
    <dgm:cxn modelId="{FA7C5AE7-F47B-40CC-B392-3958E9085A8F}" srcId="{93DEF082-849D-49FC-9B01-B80C18BDBC02}" destId="{37BB5D4A-9FD9-4A5B-9E66-61A3844F8B11}" srcOrd="4" destOrd="0" parTransId="{F7E380C8-6908-4313-A71E-33A576C76232}" sibTransId="{2526596F-9C1F-4AD4-AA90-9C5CCADED089}"/>
    <dgm:cxn modelId="{E7DB9CE9-187C-4FAC-9AA3-976626931370}" type="presOf" srcId="{41973916-5CE2-4379-B011-7C2A6059B1B9}" destId="{EFC83089-B477-43F4-BF1C-785B2E00AEAA}" srcOrd="0" destOrd="0" presId="urn:microsoft.com/office/officeart/2005/8/layout/bProcess3"/>
    <dgm:cxn modelId="{B1DDD9ED-729E-4ECD-98CE-30B85DABD949}" type="presOf" srcId="{8136B6D0-3C32-4964-B786-FFE3A395F6E8}" destId="{CE544BC6-85D0-4306-BC63-FA410FCA5B3E}" srcOrd="1" destOrd="0" presId="urn:microsoft.com/office/officeart/2005/8/layout/bProcess3"/>
    <dgm:cxn modelId="{A62713F5-8846-4F52-9D1D-511F558BC1A1}" type="presOf" srcId="{93DEF082-849D-49FC-9B01-B80C18BDBC02}" destId="{95427EC6-38FA-44FE-87EA-8D1FF9123C75}" srcOrd="0" destOrd="0" presId="urn:microsoft.com/office/officeart/2005/8/layout/bProcess3"/>
    <dgm:cxn modelId="{764B3631-3BCB-4440-B234-E28F6490ABE3}" type="presParOf" srcId="{95427EC6-38FA-44FE-87EA-8D1FF9123C75}" destId="{E957978E-9E06-420C-B186-AB75B6505626}" srcOrd="0" destOrd="0" presId="urn:microsoft.com/office/officeart/2005/8/layout/bProcess3"/>
    <dgm:cxn modelId="{18D8364F-9701-46FD-93B3-BAB67E81819C}" type="presParOf" srcId="{95427EC6-38FA-44FE-87EA-8D1FF9123C75}" destId="{B7EC77AC-BF5B-4FDC-AF14-3CA31D6E10F5}" srcOrd="1" destOrd="0" presId="urn:microsoft.com/office/officeart/2005/8/layout/bProcess3"/>
    <dgm:cxn modelId="{871929D7-0760-4997-9AEA-B18AE8D98C78}" type="presParOf" srcId="{B7EC77AC-BF5B-4FDC-AF14-3CA31D6E10F5}" destId="{D5EA7B08-0D6E-4A81-A178-AFB22B3F0980}" srcOrd="0" destOrd="0" presId="urn:microsoft.com/office/officeart/2005/8/layout/bProcess3"/>
    <dgm:cxn modelId="{D447717B-343D-482E-938E-2022295B95F9}" type="presParOf" srcId="{95427EC6-38FA-44FE-87EA-8D1FF9123C75}" destId="{C9E79F99-8CC4-4970-B3BE-AA9CED97CCF1}" srcOrd="2" destOrd="0" presId="urn:microsoft.com/office/officeart/2005/8/layout/bProcess3"/>
    <dgm:cxn modelId="{7B7B931E-2F99-4CC8-9DB2-0E0B43BE0BE5}" type="presParOf" srcId="{95427EC6-38FA-44FE-87EA-8D1FF9123C75}" destId="{129FD263-F4FC-4EF0-A10D-06572B11992E}" srcOrd="3" destOrd="0" presId="urn:microsoft.com/office/officeart/2005/8/layout/bProcess3"/>
    <dgm:cxn modelId="{59585265-A43E-42DC-BD52-37CCE5A40930}" type="presParOf" srcId="{129FD263-F4FC-4EF0-A10D-06572B11992E}" destId="{C3DFC481-D93F-4DB4-8822-00672EDFD779}" srcOrd="0" destOrd="0" presId="urn:microsoft.com/office/officeart/2005/8/layout/bProcess3"/>
    <dgm:cxn modelId="{4379133D-83CF-4AB6-B175-23584D6042DE}" type="presParOf" srcId="{95427EC6-38FA-44FE-87EA-8D1FF9123C75}" destId="{83D79B2C-D84E-4BE1-A0B2-B55BA4E0519F}" srcOrd="4" destOrd="0" presId="urn:microsoft.com/office/officeart/2005/8/layout/bProcess3"/>
    <dgm:cxn modelId="{5B9817EF-A4F3-478D-9331-9C72A30D546B}" type="presParOf" srcId="{95427EC6-38FA-44FE-87EA-8D1FF9123C75}" destId="{88031E3D-29C3-4132-93AA-23F5007BEE91}" srcOrd="5" destOrd="0" presId="urn:microsoft.com/office/officeart/2005/8/layout/bProcess3"/>
    <dgm:cxn modelId="{4641D788-C93E-4211-9844-A59E7BD4E3FD}" type="presParOf" srcId="{88031E3D-29C3-4132-93AA-23F5007BEE91}" destId="{CE544BC6-85D0-4306-BC63-FA410FCA5B3E}" srcOrd="0" destOrd="0" presId="urn:microsoft.com/office/officeart/2005/8/layout/bProcess3"/>
    <dgm:cxn modelId="{E5D1A667-0931-424A-864E-4766E07ED10A}" type="presParOf" srcId="{95427EC6-38FA-44FE-87EA-8D1FF9123C75}" destId="{B8998962-590A-4FE3-81B7-D3826A578B62}" srcOrd="6" destOrd="0" presId="urn:microsoft.com/office/officeart/2005/8/layout/bProcess3"/>
    <dgm:cxn modelId="{3B44D570-BC28-436C-88CB-998462888330}" type="presParOf" srcId="{95427EC6-38FA-44FE-87EA-8D1FF9123C75}" destId="{EFC83089-B477-43F4-BF1C-785B2E00AEAA}" srcOrd="7" destOrd="0" presId="urn:microsoft.com/office/officeart/2005/8/layout/bProcess3"/>
    <dgm:cxn modelId="{17E41FCB-8BC1-4726-94AE-3269C2373046}" type="presParOf" srcId="{EFC83089-B477-43F4-BF1C-785B2E00AEAA}" destId="{78F3FB19-E44B-4753-A1E5-2627DF720866}" srcOrd="0" destOrd="0" presId="urn:microsoft.com/office/officeart/2005/8/layout/bProcess3"/>
    <dgm:cxn modelId="{E98AF974-65B8-4225-B20D-7F53D9DFC925}" type="presParOf" srcId="{95427EC6-38FA-44FE-87EA-8D1FF9123C75}" destId="{DE8BEAE5-B9F3-47EA-930A-CC120D934A36}" srcOrd="8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EC77AC-BF5B-4FDC-AF14-3CA31D6E10F5}">
      <dsp:nvSpPr>
        <dsp:cNvPr id="0" name=""/>
        <dsp:cNvSpPr/>
      </dsp:nvSpPr>
      <dsp:spPr>
        <a:xfrm>
          <a:off x="1562668" y="774333"/>
          <a:ext cx="32905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9059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18207" y="818255"/>
        <a:ext cx="17982" cy="3596"/>
      </dsp:txXfrm>
    </dsp:sp>
    <dsp:sp modelId="{E957978E-9E06-420C-B186-AB75B6505626}">
      <dsp:nvSpPr>
        <dsp:cNvPr id="0" name=""/>
        <dsp:cNvSpPr/>
      </dsp:nvSpPr>
      <dsp:spPr>
        <a:xfrm>
          <a:off x="732" y="350932"/>
          <a:ext cx="1563736" cy="9382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alibri"/>
            </a:rPr>
            <a:t>AD8232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alibri"/>
            </a:rPr>
            <a:t>ECG MODULE</a:t>
          </a:r>
          <a:endParaRPr lang="en-US" sz="1800" kern="1200" dirty="0"/>
        </a:p>
      </dsp:txBody>
      <dsp:txXfrm>
        <a:off x="732" y="350932"/>
        <a:ext cx="1563736" cy="938241"/>
      </dsp:txXfrm>
    </dsp:sp>
    <dsp:sp modelId="{129FD263-F4FC-4EF0-A10D-06572B11992E}">
      <dsp:nvSpPr>
        <dsp:cNvPr id="0" name=""/>
        <dsp:cNvSpPr/>
      </dsp:nvSpPr>
      <dsp:spPr>
        <a:xfrm>
          <a:off x="782600" y="1287374"/>
          <a:ext cx="1923395" cy="329059"/>
        </a:xfrm>
        <a:custGeom>
          <a:avLst/>
          <a:gdLst/>
          <a:ahLst/>
          <a:cxnLst/>
          <a:rect l="0" t="0" r="0" b="0"/>
          <a:pathLst>
            <a:path>
              <a:moveTo>
                <a:pt x="1923395" y="0"/>
              </a:moveTo>
              <a:lnTo>
                <a:pt x="1923395" y="181629"/>
              </a:lnTo>
              <a:lnTo>
                <a:pt x="0" y="181629"/>
              </a:lnTo>
              <a:lnTo>
                <a:pt x="0" y="329059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95380" y="1450106"/>
        <a:ext cx="97836" cy="3596"/>
      </dsp:txXfrm>
    </dsp:sp>
    <dsp:sp modelId="{C9E79F99-8CC4-4970-B3BE-AA9CED97CCF1}">
      <dsp:nvSpPr>
        <dsp:cNvPr id="0" name=""/>
        <dsp:cNvSpPr/>
      </dsp:nvSpPr>
      <dsp:spPr>
        <a:xfrm>
          <a:off x="1924128" y="350932"/>
          <a:ext cx="1563736" cy="9382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Calibri"/>
            </a:rPr>
            <a:t>NOTCH FILTER </a:t>
          </a:r>
          <a:endParaRPr lang="en-US" sz="1800" kern="1200"/>
        </a:p>
      </dsp:txBody>
      <dsp:txXfrm>
        <a:off x="1924128" y="350932"/>
        <a:ext cx="1563736" cy="938241"/>
      </dsp:txXfrm>
    </dsp:sp>
    <dsp:sp modelId="{88031E3D-29C3-4132-93AA-23F5007BEE91}">
      <dsp:nvSpPr>
        <dsp:cNvPr id="0" name=""/>
        <dsp:cNvSpPr/>
      </dsp:nvSpPr>
      <dsp:spPr>
        <a:xfrm>
          <a:off x="1562668" y="2072235"/>
          <a:ext cx="32905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9059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18207" y="2116156"/>
        <a:ext cx="17982" cy="3596"/>
      </dsp:txXfrm>
    </dsp:sp>
    <dsp:sp modelId="{83D79B2C-D84E-4BE1-A0B2-B55BA4E0519F}">
      <dsp:nvSpPr>
        <dsp:cNvPr id="0" name=""/>
        <dsp:cNvSpPr/>
      </dsp:nvSpPr>
      <dsp:spPr>
        <a:xfrm>
          <a:off x="732" y="1648834"/>
          <a:ext cx="1563736" cy="9382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alibri"/>
            </a:rPr>
            <a:t>LOW PASS FILTER </a:t>
          </a:r>
          <a:endParaRPr lang="en-US" sz="1800" kern="1200" dirty="0"/>
        </a:p>
      </dsp:txBody>
      <dsp:txXfrm>
        <a:off x="732" y="1648834"/>
        <a:ext cx="1563736" cy="938241"/>
      </dsp:txXfrm>
    </dsp:sp>
    <dsp:sp modelId="{EFC83089-B477-43F4-BF1C-785B2E00AEAA}">
      <dsp:nvSpPr>
        <dsp:cNvPr id="0" name=""/>
        <dsp:cNvSpPr/>
      </dsp:nvSpPr>
      <dsp:spPr>
        <a:xfrm>
          <a:off x="782600" y="2585275"/>
          <a:ext cx="1923395" cy="329059"/>
        </a:xfrm>
        <a:custGeom>
          <a:avLst/>
          <a:gdLst/>
          <a:ahLst/>
          <a:cxnLst/>
          <a:rect l="0" t="0" r="0" b="0"/>
          <a:pathLst>
            <a:path>
              <a:moveTo>
                <a:pt x="1923395" y="0"/>
              </a:moveTo>
              <a:lnTo>
                <a:pt x="1923395" y="181629"/>
              </a:lnTo>
              <a:lnTo>
                <a:pt x="0" y="181629"/>
              </a:lnTo>
              <a:lnTo>
                <a:pt x="0" y="329059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95380" y="2748007"/>
        <a:ext cx="97836" cy="3596"/>
      </dsp:txXfrm>
    </dsp:sp>
    <dsp:sp modelId="{B8998962-590A-4FE3-81B7-D3826A578B62}">
      <dsp:nvSpPr>
        <dsp:cNvPr id="0" name=""/>
        <dsp:cNvSpPr/>
      </dsp:nvSpPr>
      <dsp:spPr>
        <a:xfrm>
          <a:off x="1924128" y="1648834"/>
          <a:ext cx="1563736" cy="9382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Calibri"/>
            </a:rPr>
            <a:t>ARDUINO NANO</a:t>
          </a:r>
          <a:endParaRPr lang="en-US" sz="1800" kern="1200"/>
        </a:p>
      </dsp:txBody>
      <dsp:txXfrm>
        <a:off x="1924128" y="1648834"/>
        <a:ext cx="1563736" cy="938241"/>
      </dsp:txXfrm>
    </dsp:sp>
    <dsp:sp modelId="{DE8BEAE5-B9F3-47EA-930A-CC120D934A36}">
      <dsp:nvSpPr>
        <dsp:cNvPr id="0" name=""/>
        <dsp:cNvSpPr/>
      </dsp:nvSpPr>
      <dsp:spPr>
        <a:xfrm>
          <a:off x="732" y="2946735"/>
          <a:ext cx="1563736" cy="9382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Calibri"/>
            </a:rPr>
            <a:t>DISPLAY</a:t>
          </a:r>
          <a:endParaRPr lang="en-US" sz="1800" kern="1200"/>
        </a:p>
      </dsp:txBody>
      <dsp:txXfrm>
        <a:off x="732" y="2946735"/>
        <a:ext cx="1563736" cy="9382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16E6CD-F6F7-4E53-83C1-49B29AE8E701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90EB63-432C-47CA-9DC0-9C8D5E31E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042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9040"/>
            <a:ext cx="7772400" cy="135717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ECG AMPLIFIER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82240"/>
            <a:ext cx="6400800" cy="1635760"/>
          </a:xfrm>
        </p:spPr>
        <p:txBody>
          <a:bodyPr>
            <a:normAutofit fontScale="92500" lnSpcReduction="10000"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Group-5</a:t>
            </a:r>
          </a:p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 Manikanta                (AM.SC.U4AID24035)</a:t>
            </a:r>
          </a:p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O. Mounish Kumar      (AM.SC.U4AID24033)</a:t>
            </a:r>
          </a:p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Kasi Viswanadham      (AM.SC.U4AID24039)</a:t>
            </a:r>
          </a:p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Uthkarsh Sai                  (AM.SC.U4AID24031)</a:t>
            </a:r>
          </a:p>
          <a:p>
            <a:endParaRPr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6E2531-8065-AB3F-F906-AD7B696F83A9}"/>
              </a:ext>
            </a:extLst>
          </p:cNvPr>
          <p:cNvSpPr txBox="1"/>
          <p:nvPr/>
        </p:nvSpPr>
        <p:spPr>
          <a:xfrm>
            <a:off x="3674500" y="8225154"/>
            <a:ext cx="1210045" cy="19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098444-958F-0ABF-19C9-63AEBB293D13}"/>
              </a:ext>
            </a:extLst>
          </p:cNvPr>
          <p:cNvSpPr txBox="1"/>
          <p:nvPr/>
        </p:nvSpPr>
        <p:spPr>
          <a:xfrm>
            <a:off x="2605548" y="127819"/>
            <a:ext cx="4041058" cy="1331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 fontAlgn="base">
              <a:lnSpc>
                <a:spcPts val="1500"/>
              </a:lnSpc>
              <a:buNone/>
            </a:pPr>
            <a:r>
              <a:rPr lang="en-US" sz="1800" b="1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S2 </a:t>
            </a:r>
            <a:r>
              <a:rPr lang="en-US" sz="1800" b="1" i="0" u="none" strike="noStrike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US" sz="1800" b="1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Artificial Intelligence and Data Science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0" fontAlgn="base">
              <a:lnSpc>
                <a:spcPts val="1500"/>
              </a:lnSpc>
            </a:pPr>
            <a:r>
              <a:rPr lang="en-US" sz="1800" b="1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23ECE113 - Introduction to Electronics</a:t>
            </a:r>
            <a:r>
              <a:rPr lang="en-I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br>
              <a:rPr lang="en-I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– Evaluation 1</a:t>
            </a:r>
            <a:r>
              <a:rPr lang="en-I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br>
              <a:rPr lang="en-I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en-IN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AC2317D-AE53-1F97-F999-F10C70C11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0581" y="4831080"/>
            <a:ext cx="4552335" cy="1026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ECG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ElectroCardiogram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measures the electrical activity of the heart.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Heartbeat monitor is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essensital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detecting arrhythmias(irregular heartbeat)  and other cardiac issues.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we are introducing a prototype for an ECG, which collects the data from the heartbeats and show in the form of a graph(waves).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1.Portable ECG monitor using AD8232 Module: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(Authors: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Kumar, A. Patel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Year: 2020)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using AD8232 Module we can make a cost-efficient ECG.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time data was displayed on an LCD and transmitted via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bluetooth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is suitable for home-based cardiac monitoring.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Wearable ECG Systems for Remote Cardiac Monitoring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(Authors: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L. Chen, M. Zhang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Year: 2021)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review of wearable ECG devices integrated with smartphones.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emphasis on power efficiency, signal quality and patient comfort.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D28E3-7F1F-5666-F2A2-D3CE41564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BA0A8-7C7C-6B46-60B5-8CA8F8694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Design of ECG acquisition System Using Instrumentation amplifier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 (Authors: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P. Roy, D. Saha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Year: 2020)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Focused on removing noise through notch and low-pass filters.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signal-to-noise ratio for clinical applications.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Low-cost ECG Monitoring for Rural Healthcare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 (Authors: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R. Sharma, V. Joshi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Year: 2021)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contains the details about ECG that works on battery for Rural usage and made using basic op-amp circuit(LM741).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proven effective in areas with no hospitals.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49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3BFBF-3944-6FB3-FE1D-263CEFAA7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F5A31-1292-801B-D85B-174EE7396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Real-time heartbeat Detection Algorithm from ECG signals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 (Authors: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J. Singh, A. Gupta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Year: 2022)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contains the development of algorithm to detect R-peaks and calculate BPM.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shown more than 95% accuracy.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microcontroller is possible.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834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BBC37-A3E6-8BA7-325A-E6E375DF2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1CEE9-D1F6-1C67-63B6-F0BE5D488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38866"/>
            <a:ext cx="8229600" cy="488729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A70C8E3-556C-C812-F4B8-89CC7C412A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596434"/>
              </p:ext>
            </p:extLst>
          </p:nvPr>
        </p:nvGraphicFramePr>
        <p:xfrm>
          <a:off x="774441" y="1492898"/>
          <a:ext cx="7501812" cy="4357395"/>
        </p:xfrm>
        <a:graphic>
          <a:graphicData uri="http://schemas.openxmlformats.org/drawingml/2006/table">
            <a:tbl>
              <a:tblPr/>
              <a:tblGrid>
                <a:gridCol w="3750906">
                  <a:extLst>
                    <a:ext uri="{9D8B030D-6E8A-4147-A177-3AD203B41FA5}">
                      <a16:colId xmlns:a16="http://schemas.microsoft.com/office/drawing/2014/main" val="935095151"/>
                    </a:ext>
                  </a:extLst>
                </a:gridCol>
                <a:gridCol w="3750906">
                  <a:extLst>
                    <a:ext uri="{9D8B030D-6E8A-4147-A177-3AD203B41FA5}">
                      <a16:colId xmlns:a16="http://schemas.microsoft.com/office/drawing/2014/main" val="3276526783"/>
                    </a:ext>
                  </a:extLst>
                </a:gridCol>
              </a:tblGrid>
              <a:tr h="519507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2023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    Component </a:t>
                      </a: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2023"/>
                        </a:lnSpc>
                        <a:buNone/>
                      </a:pPr>
                      <a:r>
                        <a:rPr lang="en-US" sz="1600" b="0" i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         Quantity </a:t>
                      </a: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2127132"/>
                  </a:ext>
                </a:extLst>
              </a:tr>
              <a:tr h="479736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        AD8232 Module </a:t>
                      </a: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781"/>
                        </a:lnSpc>
                        <a:spcBef>
                          <a:spcPts val="25"/>
                        </a:spcBef>
                        <a:buNone/>
                      </a:pPr>
                      <a:r>
                        <a:rPr lang="en-US" sz="16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6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810023"/>
                  </a:ext>
                </a:extLst>
              </a:tr>
              <a:tr h="479736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     Arduino Nano  </a:t>
                      </a: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781"/>
                        </a:lnSpc>
                        <a:spcBef>
                          <a:spcPts val="25"/>
                        </a:spcBef>
                        <a:buNone/>
                      </a:pPr>
                      <a:r>
                        <a:rPr lang="en-US" sz="1600" b="0" i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600" b="1" i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4776128"/>
                  </a:ext>
                </a:extLst>
              </a:tr>
              <a:tr h="479736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       Electrode Wires </a:t>
                      </a: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781"/>
                        </a:lnSpc>
                        <a:spcBef>
                          <a:spcPts val="25"/>
                        </a:spcBef>
                        <a:buNone/>
                      </a:pPr>
                      <a:r>
                        <a:rPr lang="en-US" sz="1600" b="0" i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sz="1600" b="1" i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6926306"/>
                  </a:ext>
                </a:extLst>
              </a:tr>
              <a:tr h="479736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         LM741 Op-Amp </a:t>
                      </a: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781"/>
                        </a:lnSpc>
                        <a:spcBef>
                          <a:spcPts val="25"/>
                        </a:spcBef>
                        <a:buNone/>
                      </a:pPr>
                      <a:r>
                        <a:rPr lang="en-US" sz="16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 b="1" i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7523874"/>
                  </a:ext>
                </a:extLst>
              </a:tr>
              <a:tr h="479736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Resistors  </a:t>
                      </a: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781"/>
                        </a:lnSpc>
                        <a:spcBef>
                          <a:spcPts val="25"/>
                        </a:spcBef>
                        <a:buNone/>
                      </a:pPr>
                      <a:r>
                        <a:rPr lang="en-US" sz="16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6147516"/>
                  </a:ext>
                </a:extLst>
              </a:tr>
              <a:tr h="479736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57"/>
                        </a:lnSpc>
                        <a:spcBef>
                          <a:spcPts val="25"/>
                        </a:spcBef>
                        <a:buNone/>
                      </a:pPr>
                      <a:r>
                        <a:rPr lang="en-US" sz="16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capacitors</a:t>
                      </a:r>
                      <a:r>
                        <a:rPr lang="en-US" sz="16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781"/>
                        </a:lnSpc>
                        <a:spcBef>
                          <a:spcPts val="25"/>
                        </a:spcBef>
                        <a:buNone/>
                      </a:pPr>
                      <a:r>
                        <a:rPr lang="en-US" sz="16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600" b="1" i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1917425"/>
                  </a:ext>
                </a:extLst>
              </a:tr>
              <a:tr h="479736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57"/>
                        </a:lnSpc>
                        <a:spcBef>
                          <a:spcPts val="25"/>
                        </a:spcBef>
                        <a:buNone/>
                      </a:pPr>
                      <a:r>
                        <a:rPr lang="en-US" sz="16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Breadboard</a:t>
                      </a:r>
                      <a:r>
                        <a:rPr lang="en-US" sz="16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781"/>
                        </a:lnSpc>
                        <a:spcBef>
                          <a:spcPts val="25"/>
                        </a:spcBef>
                        <a:buNone/>
                      </a:pPr>
                      <a:r>
                        <a:rPr lang="en-US" sz="16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6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9871701"/>
                  </a:ext>
                </a:extLst>
              </a:tr>
              <a:tr h="479736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      Voltage Source </a:t>
                      </a: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781"/>
                        </a:lnSpc>
                        <a:spcBef>
                          <a:spcPts val="25"/>
                        </a:spcBef>
                        <a:buNone/>
                      </a:pPr>
                      <a:r>
                        <a:rPr lang="en-US" sz="16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6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8075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0372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634AE-C4D9-A1FA-7D24-0B026729B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5805948" cy="777414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AD8232-Microcontroller: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A7374-155B-2ADB-1747-7B986979F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45574"/>
            <a:ext cx="4532671" cy="5643715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circuit (IC) designed to condition signals for Electrocardiogram (ECG) applications.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It's essentially a signal conditioning block that extracts, amplifies the small electrical signals generated by the heart, making them easier to record and analyze.</a:t>
            </a:r>
          </a:p>
        </p:txBody>
      </p:sp>
      <p:pic>
        <p:nvPicPr>
          <p:cNvPr id="2052" name="Picture 4" descr="AD8232 Heart Rate Monitor Hookup Guide - SparkFun Learn">
            <a:extLst>
              <a:ext uri="{FF2B5EF4-FFF2-40B4-BE49-F238E27FC236}">
                <a16:creationId xmlns:a16="http://schemas.microsoft.com/office/drawing/2014/main" id="{BEFE8682-6BBF-E6C0-1B42-90BA9C424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329" y="966019"/>
            <a:ext cx="4532671" cy="4532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1054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79035-183B-CDB1-3ECC-7E262061A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457200" y="78658"/>
            <a:ext cx="8229600" cy="195980"/>
          </a:xfrm>
        </p:spPr>
        <p:txBody>
          <a:bodyPr>
            <a:normAutofit fontScale="90000"/>
          </a:bodyPr>
          <a:lstStyle/>
          <a:p>
            <a:r>
              <a:rPr lang="en-US"/>
              <a:t>  </a:t>
            </a:r>
            <a:br>
              <a:rPr lang="en-US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CBA09-DAF4-3B88-F125-0D5396D08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62116"/>
            <a:ext cx="8229600" cy="6047505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Electrode Wires: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take input signals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heart.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Resistors:</a:t>
            </a:r>
          </a:p>
          <a:p>
            <a:pPr marL="0" indent="0">
              <a:buNone/>
            </a:pPr>
            <a:r>
              <a:rPr lang="en-US" sz="26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resistor is </a:t>
            </a:r>
            <a:r>
              <a:rPr lang="en-US" sz="2600" b="0" i="0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passive two-terminal </a:t>
            </a:r>
          </a:p>
          <a:p>
            <a:pPr marL="0" indent="0">
              <a:buNone/>
            </a:pPr>
            <a:r>
              <a:rPr lang="en-US" sz="2600" b="0" i="0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electronic component that implements</a:t>
            </a:r>
          </a:p>
          <a:p>
            <a:pPr marL="0" indent="0">
              <a:buNone/>
            </a:pPr>
            <a:r>
              <a:rPr lang="en-US" sz="2600" b="0" i="0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electrical resistance as a circuit element</a:t>
            </a:r>
            <a:r>
              <a:rPr lang="en-US" sz="26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Capacitor: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capacitor is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electronic component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stores electrical energy by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accumulating electric charges on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conductive plates separated by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insulating material called a dielectric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3074" name="Picture 2" descr="Ad8232 Ecg Sensor Heart Rate Monitor Kit With Cable And Electrodes at ₹  377/piece | T Nagar | Chennai | ID: 2850023656030">
            <a:extLst>
              <a:ext uri="{FF2B5EF4-FFF2-40B4-BE49-F238E27FC236}">
                <a16:creationId xmlns:a16="http://schemas.microsoft.com/office/drawing/2014/main" id="{26B80BC4-8C21-3950-6760-65817B81A1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6465" y="348379"/>
            <a:ext cx="3869395" cy="1860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A Complete Guide to Resistors">
            <a:extLst>
              <a:ext uri="{FF2B5EF4-FFF2-40B4-BE49-F238E27FC236}">
                <a16:creationId xmlns:a16="http://schemas.microsoft.com/office/drawing/2014/main" id="{2B185F23-7350-0079-1C3E-0FEBB534A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5518" y="2809875"/>
            <a:ext cx="1657350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ow Capacitors Work - A Tutorial For Hobbyists">
            <a:extLst>
              <a:ext uri="{FF2B5EF4-FFF2-40B4-BE49-F238E27FC236}">
                <a16:creationId xmlns:a16="http://schemas.microsoft.com/office/drawing/2014/main" id="{FEB91777-8B2A-5FF3-FD1E-D09502F4E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8976" y="4516873"/>
            <a:ext cx="2276475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7039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DFE41-2A88-5E7A-0922-4EEFF2F1C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8317"/>
          </a:xfrm>
        </p:spPr>
        <p:txBody>
          <a:bodyPr>
            <a:normAutofit fontScale="90000"/>
          </a:bodyPr>
          <a:lstStyle/>
          <a:p>
            <a:r>
              <a:rPr lang="en-US"/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0AC27-7EDE-7EFD-14F0-0AFE79EB4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05081"/>
            <a:ext cx="5047949" cy="5546060"/>
          </a:xfrm>
        </p:spPr>
        <p:txBody>
          <a:bodyPr>
            <a:normAutofit fontScale="77500" lnSpcReduction="20000"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LM741: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LM741 is a popular and versatile operational amplifier (op-amp) that's known for its high gain and ability to operate with either single or dual power supplies.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It's often used as a DC-coupled amplifier and can be used in various circuits, including comparators and mathematical operations.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LM741 is also a direct, plug-in replacement for older op-amp models in many applications.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LM741 Operational amplifier IC">
            <a:extLst>
              <a:ext uri="{FF2B5EF4-FFF2-40B4-BE49-F238E27FC236}">
                <a16:creationId xmlns:a16="http://schemas.microsoft.com/office/drawing/2014/main" id="{F12B7701-A06A-42DE-FB05-44FDC75BED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7445" y="934678"/>
            <a:ext cx="144780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LM741 Op-AMP IC Pinout, Circuit, Datasheet, and Uses ...">
            <a:extLst>
              <a:ext uri="{FF2B5EF4-FFF2-40B4-BE49-F238E27FC236}">
                <a16:creationId xmlns:a16="http://schemas.microsoft.com/office/drawing/2014/main" id="{CA97B803-90AD-8863-1B22-BCB0294D5A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5149" y="3621140"/>
            <a:ext cx="3404431" cy="1973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1598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BE038-1D9A-F0EA-A669-2F38BCFAE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Nano: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03E6A-30D2-03FF-D26F-3A973A0C5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1238865"/>
            <a:ext cx="5412658" cy="1292019"/>
          </a:xfrm>
        </p:spPr>
        <p:txBody>
          <a:bodyPr>
            <a:noAutofit/>
          </a:bodyPr>
          <a:lstStyle/>
          <a:p>
            <a:pPr algn="l"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Compact Size:</a:t>
            </a:r>
            <a:endParaRPr lang="en-US" sz="1800" b="0" i="0" dirty="0">
              <a:solidFill>
                <a:srgbClr val="001D3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ctr"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545D7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Nano is small (45mm x 18mm), making it ideal for space-constrained projects and wearable devices. </a:t>
            </a:r>
            <a:endParaRPr lang="en-US" sz="1800" b="0" i="0" dirty="0">
              <a:solidFill>
                <a:srgbClr val="0B57D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Breadboard-Friendly:</a:t>
            </a:r>
            <a:endParaRPr lang="en-US" sz="1800" b="0" i="0" dirty="0">
              <a:solidFill>
                <a:srgbClr val="001D3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ctr"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545D7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features pin headers that connect easily to breadboards, simplifying prototyping. </a:t>
            </a:r>
            <a:endParaRPr lang="en-US" sz="1800" b="0" i="0" dirty="0">
              <a:solidFill>
                <a:srgbClr val="0B57D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ATmega328P Microcontroller:</a:t>
            </a:r>
            <a:endParaRPr lang="en-US" sz="1800" b="0" i="0" dirty="0">
              <a:solidFill>
                <a:srgbClr val="001D3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ctr"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545D7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utilizes the ATmega328P, offering a balance of performance and affordability. </a:t>
            </a:r>
            <a:endParaRPr lang="en-US" sz="1800" b="0" i="0" dirty="0">
              <a:solidFill>
                <a:srgbClr val="0B57D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USB Powered:</a:t>
            </a:r>
            <a:endParaRPr lang="en-US" sz="1800" b="0" i="0" dirty="0">
              <a:solidFill>
                <a:srgbClr val="001D3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ctr"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545D7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Nano can be powered via a Mini-B USB cable, making it easy to connect to a computer for programming and powering. </a:t>
            </a:r>
            <a:endParaRPr lang="en-US" sz="1800" b="0" i="0" dirty="0">
              <a:solidFill>
                <a:srgbClr val="0B57D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1650"/>
              </a:lnSpc>
              <a:spcBef>
                <a:spcPts val="75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Versatile I/O:</a:t>
            </a:r>
            <a:endParaRPr lang="en-US" sz="1800" b="0" i="0" dirty="0">
              <a:solidFill>
                <a:srgbClr val="001D3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1650"/>
              </a:lnSpc>
              <a:spcBef>
                <a:spcPts val="75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545D7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provides 14 digital and 8 analog input/output pins and 6 PWM outputs, allowing for a wide range of applications. </a:t>
            </a:r>
          </a:p>
          <a:p>
            <a:pPr marL="457200" lvl="1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4C19CD6F-2BD2-D053-AB2D-8A232729F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4707" y="2008700"/>
            <a:ext cx="3018738" cy="1292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0158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50BB656-B00E-23AB-3E58-0CF25B3167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832841"/>
              </p:ext>
            </p:extLst>
          </p:nvPr>
        </p:nvGraphicFramePr>
        <p:xfrm>
          <a:off x="245806" y="816077"/>
          <a:ext cx="8740878" cy="5486325"/>
        </p:xfrm>
        <a:graphic>
          <a:graphicData uri="http://schemas.openxmlformats.org/drawingml/2006/table">
            <a:tbl>
              <a:tblPr/>
              <a:tblGrid>
                <a:gridCol w="4654153">
                  <a:extLst>
                    <a:ext uri="{9D8B030D-6E8A-4147-A177-3AD203B41FA5}">
                      <a16:colId xmlns:a16="http://schemas.microsoft.com/office/drawing/2014/main" val="2020218351"/>
                    </a:ext>
                  </a:extLst>
                </a:gridCol>
                <a:gridCol w="4086725">
                  <a:extLst>
                    <a:ext uri="{9D8B030D-6E8A-4147-A177-3AD203B41FA5}">
                      <a16:colId xmlns:a16="http://schemas.microsoft.com/office/drawing/2014/main" val="1335391048"/>
                    </a:ext>
                  </a:extLst>
                </a:gridCol>
              </a:tblGrid>
              <a:tr h="341858"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</a:p>
                  </a:txBody>
                  <a:tcPr marL="64657" marR="64657" marT="32328" marB="323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</a:t>
                      </a:r>
                    </a:p>
                  </a:txBody>
                  <a:tcPr marL="64657" marR="64657" marT="32328" marB="323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4877554"/>
                  </a:ext>
                </a:extLst>
              </a:tr>
              <a:tr h="1115093">
                <a:tc>
                  <a:txBody>
                    <a:bodyPr/>
                    <a:lstStyle/>
                    <a:p>
                      <a:r>
                        <a:rPr lang="en-US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Arduino Nano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657" marR="64657" marT="32328" marB="323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Reads analog ECG signal via its ADC (Analog-to-Digital Converter) and processes/transmits data to a PC or display.</a:t>
                      </a:r>
                    </a:p>
                  </a:txBody>
                  <a:tcPr marL="64657" marR="64657" marT="32328" marB="323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0062550"/>
                  </a:ext>
                </a:extLst>
              </a:tr>
              <a:tr h="599604">
                <a:tc>
                  <a:txBody>
                    <a:bodyPr/>
                    <a:lstStyle/>
                    <a:p>
                      <a:r>
                        <a:rPr lang="en-US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Instrumentation Amplifier (e.g., AD620)</a:t>
                      </a: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or </a:t>
                      </a:r>
                      <a:r>
                        <a:rPr lang="en-US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Op-Amps (e.g., LM741)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657" marR="64657" marT="32328" marB="323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Amplifies the tiny ECG signals (~1 mV) from the body electrodes.</a:t>
                      </a:r>
                    </a:p>
                  </a:txBody>
                  <a:tcPr marL="64657" marR="64657" marT="32328" marB="323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2541017"/>
                  </a:ext>
                </a:extLst>
              </a:tr>
              <a:tr h="599604">
                <a:tc>
                  <a:txBody>
                    <a:bodyPr/>
                    <a:lstStyle/>
                    <a:p>
                      <a:r>
                        <a:rPr lang="en-US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Electrodes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657" marR="64657" marT="32328" marB="323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Placed on the body to pick up electrical signals from the heart.</a:t>
                      </a:r>
                    </a:p>
                  </a:txBody>
                  <a:tcPr marL="64657" marR="64657" marT="32328" marB="323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459370"/>
                  </a:ext>
                </a:extLst>
              </a:tr>
              <a:tr h="599604">
                <a:tc>
                  <a:txBody>
                    <a:bodyPr/>
                    <a:lstStyle/>
                    <a:p>
                      <a:r>
                        <a:rPr lang="en-US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Notch Filter (e.g., using RC circuit or op-amp)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657" marR="64657" marT="32328" marB="323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Removes 50/60 Hz power line interference.</a:t>
                      </a:r>
                    </a:p>
                  </a:txBody>
                  <a:tcPr marL="64657" marR="64657" marT="32328" marB="323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1260842"/>
                  </a:ext>
                </a:extLst>
              </a:tr>
              <a:tr h="599604">
                <a:tc>
                  <a:txBody>
                    <a:bodyPr/>
                    <a:lstStyle/>
                    <a:p>
                      <a:r>
                        <a:rPr lang="en-US" sz="1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Low-Pass Filter</a:t>
                      </a:r>
                      <a:endParaRPr lang="en-US"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657" marR="64657" marT="32328" marB="323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Removes high-frequency noise above ECG bandwidth (~100 Hz).</a:t>
                      </a:r>
                    </a:p>
                  </a:txBody>
                  <a:tcPr marL="64657" marR="64657" marT="32328" marB="323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7953267"/>
                  </a:ext>
                </a:extLst>
              </a:tr>
              <a:tr h="599604">
                <a:tc>
                  <a:txBody>
                    <a:bodyPr/>
                    <a:lstStyle/>
                    <a:p>
                      <a:r>
                        <a:rPr lang="en-US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AD8232 Micro controller</a:t>
                      </a:r>
                    </a:p>
                  </a:txBody>
                  <a:tcPr marL="64657" marR="64657" marT="32328" marB="323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AD8232 captures ECG signals by amplifying and filtering inputs from electrodes.</a:t>
                      </a:r>
                    </a:p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64657" marR="64657" marT="32328" marB="323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7632913"/>
                  </a:ext>
                </a:extLst>
              </a:tr>
              <a:tr h="341858">
                <a:tc>
                  <a:txBody>
                    <a:bodyPr/>
                    <a:lstStyle/>
                    <a:p>
                      <a:r>
                        <a:rPr lang="en-US" sz="1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Resistors &amp; Capacitors</a:t>
                      </a:r>
                      <a:endParaRPr lang="en-US"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657" marR="64657" marT="32328" marB="323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building filters and gain stages.</a:t>
                      </a:r>
                    </a:p>
                  </a:txBody>
                  <a:tcPr marL="64657" marR="64657" marT="32328" marB="323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3318551"/>
                  </a:ext>
                </a:extLst>
              </a:tr>
              <a:tr h="599604">
                <a:tc>
                  <a:txBody>
                    <a:bodyPr/>
                    <a:lstStyle/>
                    <a:p>
                      <a:r>
                        <a:rPr lang="en-US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Supply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657" marR="64657" marT="32328" marB="323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±5V or ±9V dual supply (for op-amps) and 5V for Arduino.</a:t>
                      </a:r>
                    </a:p>
                  </a:txBody>
                  <a:tcPr marL="64657" marR="64657" marT="32328" marB="323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096774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70482F8-1C03-DFD6-3308-DC19C1C26E63}"/>
              </a:ext>
            </a:extLst>
          </p:cNvPr>
          <p:cNvSpPr txBox="1"/>
          <p:nvPr/>
        </p:nvSpPr>
        <p:spPr>
          <a:xfrm>
            <a:off x="167148" y="108155"/>
            <a:ext cx="6440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Components</a:t>
            </a:r>
          </a:p>
        </p:txBody>
      </p:sp>
    </p:spTree>
    <p:extLst>
      <p:ext uri="{BB962C8B-B14F-4D97-AF65-F5344CB8AC3E}">
        <p14:creationId xmlns:p14="http://schemas.microsoft.com/office/powerpoint/2010/main" val="1630858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26575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272858"/>
            <a:ext cx="5193890" cy="5127942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Nano : Reads analog ECG signal via its ADC (Analog-to-Digital Converter) and processes/transmits data to a PC or display.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Notch Filter: Removes 50/60Hz power line interference.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Low-Pass Filter: Removes high-frequency noise.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Viewed on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AD8232: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20BD96C7-871B-C89C-B576-E479F67834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1969077"/>
              </p:ext>
            </p:extLst>
          </p:nvPr>
        </p:nvGraphicFramePr>
        <p:xfrm>
          <a:off x="5448926" y="1417638"/>
          <a:ext cx="3488597" cy="42359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DE11-A0D0-EAAC-2024-FE56A0D75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Diagram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EDDBE4-E586-30D8-5C5E-5222D5F680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696250"/>
            <a:ext cx="8229600" cy="233386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7C766D-1DE8-1DAE-AD3D-CBBE3388A5F4}"/>
              </a:ext>
            </a:extLst>
          </p:cNvPr>
          <p:cNvSpPr txBox="1"/>
          <p:nvPr/>
        </p:nvSpPr>
        <p:spPr>
          <a:xfrm>
            <a:off x="457201" y="3903406"/>
            <a:ext cx="10078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AD8232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A1313B-48E6-1990-B514-6B983D9E3AD6}"/>
              </a:ext>
            </a:extLst>
          </p:cNvPr>
          <p:cNvSpPr txBox="1"/>
          <p:nvPr/>
        </p:nvSpPr>
        <p:spPr>
          <a:xfrm>
            <a:off x="6918960" y="3657600"/>
            <a:ext cx="15011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Arduino Nano</a:t>
            </a:r>
          </a:p>
        </p:txBody>
      </p:sp>
    </p:spTree>
    <p:extLst>
      <p:ext uri="{BB962C8B-B14F-4D97-AF65-F5344CB8AC3E}">
        <p14:creationId xmlns:p14="http://schemas.microsoft.com/office/powerpoint/2010/main" val="531565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Notch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Components: LM741 (U4), Capacitors (C1–C3), Resistors (R8–R10)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50/60Hz power line interference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ECG signal quality by eliminating noise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07D3D0-C260-B96F-3F9E-C666308CE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626" y="4257367"/>
            <a:ext cx="8313174" cy="248756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Low-Pass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Components: LM741 (U5), Capacitors (C4, C5), Resistors (R11, R12)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Passes ECG signal frequencies (~0.05Hz–100Hz)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 out high-frequency interference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A4E329-AABD-D858-09FE-4EBC0FC02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96" y="4277031"/>
            <a:ext cx="8613060" cy="230633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LTspice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3193B1-2C94-F12A-0EE5-F7E808576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96" y="2595715"/>
            <a:ext cx="8352504" cy="301850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8785-369E-01CB-4C13-0E722B535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392F285-1AA6-F18C-9A0F-B64AFA32F3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8791" y="1203649"/>
            <a:ext cx="4304507" cy="473062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7FAB54-E534-08AC-30D3-CDC8D4369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9493" y="1203650"/>
            <a:ext cx="4304507" cy="4655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1324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25A40-5548-E550-CA5F-C140724F7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Hardware Implementation: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1D62CE8-71C3-9F0F-2737-0B94A300FD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9264" y="1492045"/>
            <a:ext cx="7885471" cy="4525963"/>
          </a:xfrm>
        </p:spPr>
      </p:pic>
    </p:spTree>
    <p:extLst>
      <p:ext uri="{BB962C8B-B14F-4D97-AF65-F5344CB8AC3E}">
        <p14:creationId xmlns:p14="http://schemas.microsoft.com/office/powerpoint/2010/main" val="1328857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BD951A-8EAE-9926-3D05-F29B4636A442}"/>
              </a:ext>
            </a:extLst>
          </p:cNvPr>
          <p:cNvSpPr txBox="1"/>
          <p:nvPr/>
        </p:nvSpPr>
        <p:spPr>
          <a:xfrm>
            <a:off x="688258" y="265471"/>
            <a:ext cx="76396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RESULTS: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12DC17-0F40-0612-1A97-39362539F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3" y="1034912"/>
            <a:ext cx="4819512" cy="25923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7ECCCD-CA1B-09B4-44B8-69F094CC4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7918" y="3855146"/>
            <a:ext cx="4968802" cy="2592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6212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B2052-EB3C-2D2D-2609-5B6B264C9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228" y="504671"/>
            <a:ext cx="8229600" cy="1143000"/>
          </a:xfrm>
        </p:spPr>
        <p:txBody>
          <a:bodyPr/>
          <a:lstStyle/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validation: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302E4C6-EC30-8FDB-EDF9-D52DC5A04D9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3854" y="2331116"/>
            <a:ext cx="3432513" cy="2782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852CA73E-8E18-9586-1152-89D15CCE40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228" y="1875486"/>
            <a:ext cx="5333626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 Wave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Atrial depolarization (atria contract).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 Segment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Delay at AV node, allows ventricular filling.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 Interval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Time from atrial to ventricular activation.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QRS Complex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Ventricular depolarization (ventricles contract).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 Wave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Ventricular repolarization (ventricles relax).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 Segment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Time between ventricular contraction and relaxation.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QT Interval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Total time for ventricular activity (depolarization + repolarization)</a:t>
            </a:r>
          </a:p>
        </p:txBody>
      </p:sp>
    </p:spTree>
    <p:extLst>
      <p:ext uri="{BB962C8B-B14F-4D97-AF65-F5344CB8AC3E}">
        <p14:creationId xmlns:p14="http://schemas.microsoft.com/office/powerpoint/2010/main" val="26343706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E08A7-11CF-A5B2-5D43-8B4F6E5B3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09019" y="65809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7C58F-7984-EE9B-EA15-3D8ED2BF9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11710"/>
            <a:ext cx="8229600" cy="4525963"/>
          </a:xfrm>
        </p:spPr>
        <p:txBody>
          <a:bodyPr>
            <a:normAutofit fontScale="62500" lnSpcReduction="20000"/>
          </a:bodyPr>
          <a:lstStyle/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fontAlgn="base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Signal Amplification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Effectively boosts low-amplitude ECG signals (0.1–5 mV) for accurate measurement and analysis. ​</a:t>
            </a:r>
          </a:p>
          <a:p>
            <a:pPr fontAlgn="base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Suppression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Filters out interference, such as power line noise and muscle artifacts, ensuring a clean ECG signal. ​</a:t>
            </a:r>
          </a:p>
          <a:p>
            <a:pPr fontAlgn="base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Input Impedance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Minimizes signal loss by matching the high impedance of skin-electrode interfaces. ​</a:t>
            </a:r>
          </a:p>
          <a:p>
            <a:pPr fontAlgn="base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Fidelity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Preserves the frequency range (0.05–100 Hz) and waveform features (P, QRS, T waves) for precise diagnostics. ​</a:t>
            </a:r>
          </a:p>
          <a:p>
            <a:pPr fontAlgn="base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Safety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Incorporates isolation and protection mechanisms to prevent electrical hazards during use. ​</a:t>
            </a:r>
          </a:p>
          <a:p>
            <a:pPr fontAlgn="base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Delivers consistent performance across varying physiological and environmental conditions. ​</a:t>
            </a:r>
          </a:p>
          <a:p>
            <a:pPr fontAlgn="base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Versatility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Supports clinical diagnostics, long-term monitoring, and cardiovascular research applications. ​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28796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AD224-7EFD-3E89-C4F0-03B151987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902034B-209B-223B-2B2F-BE9653CA3D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5902" y="1283186"/>
            <a:ext cx="8472196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designed and implemented a low-cost ECG amplifier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Effectively amplified low-amplitude ECG signals (0.1–5 mV).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Notch and low-pass filters efficiently removed power line and high-frequency noise.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Achieved clear waveform output (P, QRS, T waves) for accurate heart signal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Ensured patient safety with high input impedance and isolation mechanisms.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Portable and suitable for wearable and rural healthcare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Offers potential for educational use and future integration with IoT and mobile devices</a:t>
            </a:r>
          </a:p>
        </p:txBody>
      </p:sp>
    </p:spTree>
    <p:extLst>
      <p:ext uri="{BB962C8B-B14F-4D97-AF65-F5344CB8AC3E}">
        <p14:creationId xmlns:p14="http://schemas.microsoft.com/office/powerpoint/2010/main" val="36790151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6168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36320"/>
            <a:ext cx="8229600" cy="5089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S. Maji, J. Dookhy, and M. J. Burke, “Electrical characterization of conductive textile based ECG recording electrodes,” Meas., Sensors, vol. 15, Jun. 2021, Art. no. 100044,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10.1016/j.measen.2021.100044.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S. Maji, “Design of a high performance low-power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amplifier for textile based un-gelled electrodes,” Ph.D. dissertation, Dept. Electron. Elect. Eng., Trinity College Dublin, Dublin, Ireland, 2021.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[3] O. Casas, E. M. Spinelli, and R. Pallas-Areny, “Fully differential AC coupling networks: A comparative study,” IEEE Trans.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Instrum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Meas., vol. 58, no. 1, pp. 94–98, Jan. 2009,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10.1109/TIM.2008.927200.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[4] R. Pallas-Areny and J. G. Webster, “Common mode rejection ratio in differential amplifiers,” IEEE Trans.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Instrum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Meas., vol. 40, no. 4, pp. 669–676, Aug. 1991,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10.1109/19.85332.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N. Tadic, D. Petric, M. Erceg, and A.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Dervic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“CMRR enhance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instrumentation amplifiers using an algorithmic approach with dynamic analog signal processing,” IEEE Trans.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Instrum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Meas., vol. 70, pp. 1–17, 2021,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10.1109/TIM.2021.3097859.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36B7C-AEB2-EEC8-A486-11FA2C2D0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0"/>
            <a:ext cx="8229600" cy="1143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00046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1599</Words>
  <Application>Microsoft Office PowerPoint</Application>
  <PresentationFormat>On-screen Show (4:3)</PresentationFormat>
  <Paragraphs>170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Times New Roman</vt:lpstr>
      <vt:lpstr>Wingdings</vt:lpstr>
      <vt:lpstr>Office Theme</vt:lpstr>
      <vt:lpstr> ECG AMPLIFIER</vt:lpstr>
      <vt:lpstr>Introduction</vt:lpstr>
      <vt:lpstr>Literature Survey </vt:lpstr>
      <vt:lpstr>Literature Survey</vt:lpstr>
      <vt:lpstr>Literature Survey</vt:lpstr>
      <vt:lpstr>COMPONENTS :</vt:lpstr>
      <vt:lpstr>AD8232-Microcontroller: </vt:lpstr>
      <vt:lpstr>   </vt:lpstr>
      <vt:lpstr>  </vt:lpstr>
      <vt:lpstr> Arduino Nano: </vt:lpstr>
      <vt:lpstr>PowerPoint Presentation</vt:lpstr>
      <vt:lpstr>Block Diagram Overview</vt:lpstr>
      <vt:lpstr>Circuit Diagram</vt:lpstr>
      <vt:lpstr>Notch Filter</vt:lpstr>
      <vt:lpstr>Low-Pass Filter</vt:lpstr>
      <vt:lpstr>Simulation</vt:lpstr>
      <vt:lpstr>Results</vt:lpstr>
      <vt:lpstr>Hardware Implementation:</vt:lpstr>
      <vt:lpstr>PowerPoint Presentation</vt:lpstr>
      <vt:lpstr>Hardware validation:</vt:lpstr>
      <vt:lpstr>ADVANTAGES: ​ </vt:lpstr>
      <vt:lpstr>Conclusion:</vt:lpstr>
      <vt:lpstr>References: 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Mounish Kumar</dc:creator>
  <cp:keywords/>
  <dc:description>generated using python-pptx</dc:description>
  <cp:lastModifiedBy>S.N.S Kasi Viswanadham</cp:lastModifiedBy>
  <cp:revision>5</cp:revision>
  <dcterms:created xsi:type="dcterms:W3CDTF">2013-01-27T09:14:16Z</dcterms:created>
  <dcterms:modified xsi:type="dcterms:W3CDTF">2025-06-14T11:09:16Z</dcterms:modified>
  <cp:category/>
</cp:coreProperties>
</file>